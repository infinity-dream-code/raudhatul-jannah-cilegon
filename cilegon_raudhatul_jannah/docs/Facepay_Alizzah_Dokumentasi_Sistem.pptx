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9553C"/>
          </a:solidFill>
          <a:ln>
            <a:solidFill>
              <a:srgbClr val="2D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1097280" cy="1097280"/>
          </a:xfrm>
          <a:prstGeom prst="roundRect">
            <a:avLst/>
          </a:prstGeom>
          <a:solidFill>
            <a:srgbClr val="1F6B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Dokumentasi Sistem Facepay Alizzah</a:t>
            </a:r>
          </a:p>
          <a:p>
            <a:pPr>
              <a:spcBef>
                <a:spcPts val="1400"/>
              </a:spcBef>
              <a:defRPr sz="1800">
                <a:solidFill>
                  <a:srgbClr val="E6F2EC"/>
                </a:solidFill>
                <a:latin typeface="Calibri"/>
              </a:defRPr>
            </a:pPr>
            <a:r>
              <a:t>Platform Pengenalan Wajah Terpadu: Kantin Cashless, Presensi Absensi, &amp; Portal Ortu Mandiri</a:t>
            </a:r>
          </a:p>
          <a:p>
            <a:pPr>
              <a:spcBef>
                <a:spcPts val="2800"/>
              </a:spcBef>
              <a:defRPr sz="1400">
                <a:solidFill>
                  <a:srgbClr val="A0D2B9"/>
                </a:solidFill>
                <a:latin typeface="Calibri"/>
              </a:defRPr>
            </a:pPr>
            <a:r>
              <a:t>Pengembang: ICT Alizzah  •  Versi: 2.0.0-redesign  •  Tahun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Ikhtisar &amp; Visi Utama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000" b="1">
                <a:solidFill>
                  <a:srgbClr val="1F6B4A"/>
                </a:solidFill>
                <a:latin typeface="Georgia"/>
              </a:defRPr>
            </a:pPr>
            <a:r>
              <a:t>🛒 FacePay Kantin</a:t>
            </a:r>
          </a:p>
          <a:p>
            <a:pPr>
              <a:spcBef>
                <a:spcPts val="1400"/>
              </a:spcBef>
              <a:defRPr sz="1400">
                <a:solidFill>
                  <a:srgbClr val="5C6B63"/>
                </a:solidFill>
                <a:latin typeface="Calibri"/>
              </a:defRPr>
            </a:pPr>
            <a:r>
              <a:t>Transaksi belanja non-tunai berbasis pemindaian wajah real-time. Kasir cukup memindai wajah siswa, mengecek saldo, dan mengeksekusi pembayaran secara otomatis.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000" b="1">
                <a:solidFill>
                  <a:srgbClr val="1F6B4A"/>
                </a:solidFill>
                <a:latin typeface="Georgia"/>
              </a:defRPr>
            </a:pPr>
            <a:r>
              <a:t>📋 Panel Admin &amp; Presensi</a:t>
            </a:r>
          </a:p>
          <a:p>
            <a:pPr>
              <a:spcBef>
                <a:spcPts val="1400"/>
              </a:spcBef>
              <a:defRPr sz="1400">
                <a:solidFill>
                  <a:srgbClr val="5C6B63"/>
                </a:solidFill>
                <a:latin typeface="Calibri"/>
              </a:defRPr>
            </a:pPr>
            <a:r>
              <a:t>Pusat pengelolaan absensi kehadiran harian siswa, pendaftaran data siswa, perekaman sampel foto referensi, serta pemantauan log transaksi.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000" b="1">
                <a:solidFill>
                  <a:srgbClr val="1F6B4A"/>
                </a:solidFill>
                <a:latin typeface="Georgia"/>
              </a:defRPr>
            </a:pPr>
            <a:r>
              <a:t>👨‍👩‍👧 Portal Ortu Mandiri</a:t>
            </a:r>
          </a:p>
          <a:p>
            <a:pPr>
              <a:spcBef>
                <a:spcPts val="1400"/>
              </a:spcBef>
              <a:defRPr sz="1400">
                <a:solidFill>
                  <a:srgbClr val="5C6B63"/>
                </a:solidFill>
                <a:latin typeface="Calibri"/>
              </a:defRPr>
            </a:pPr>
            <a:r>
              <a:t>Antarmuka mobile-first bagi orang tua untuk mendaftarkan dan memverifikasi foto wajah anak secara mandiri dilengkapi Oval Face Guide dan upload galeri.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Arsitektur Informasi &amp; Struktur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Portal Utama ( / )</a:t>
            </a:r>
          </a:p>
          <a:p>
            <a:pPr>
              <a:defRPr sz="1000" b="1">
                <a:solidFill>
                  <a:srgbClr val="C45C26"/>
                </a:solidFill>
                <a:latin typeface="Calibri"/>
              </a:defRPr>
            </a:pPr>
            <a:r>
              <a:t>NAVIGASI PINTU MASUK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Pintu gerbang publik untuk memisahkan jalur bagi Petugas Kantin, Admin, dan Orang Tua Siswa.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Modul Kantin ( /kantin/ )</a:t>
            </a:r>
          </a:p>
          <a:p>
            <a:pPr>
              <a:defRPr sz="1000" b="1">
                <a:solidFill>
                  <a:srgbClr val="C45C26"/>
                </a:solidFill>
                <a:latin typeface="Calibri"/>
              </a:defRPr>
            </a:pPr>
            <a:r>
              <a:t>FACEPAY TERMINAL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Terminal khusus kasir kantin untuk identifikasi wajah, Inquiry Saldo, dan Payment Belanja (Auth JWT).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Modul Admin ( /admin/ )</a:t>
            </a:r>
          </a:p>
          <a:p>
            <a:pPr>
              <a:defRPr sz="1000" b="1">
                <a:solidFill>
                  <a:srgbClr val="C45C26"/>
                </a:solidFill>
                <a:latin typeface="Calibri"/>
              </a:defRPr>
            </a:pPr>
            <a:r>
              <a:t>MANAGEMENT PANEL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Panel pengelola sekolah untuk absensi harian, pendaftaran siswa, rekam referensi, dan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Portal Ortu ( /ortu/ )</a:t>
            </a:r>
          </a:p>
          <a:p>
            <a:pPr>
              <a:defRPr sz="1000" b="1">
                <a:solidFill>
                  <a:srgbClr val="C45C26"/>
                </a:solidFill>
                <a:latin typeface="Calibri"/>
              </a:defRPr>
            </a:pPr>
            <a:r>
              <a:t>MOBILE PARENT PORTAL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Portal mandiri orang tua untuk update foto wajah anak dengan Oval Guide &amp; dukungan upload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Matriks Autentikasi &amp; Keamanan User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Peran (Role)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Sumber Autentikasi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Sesi &amp; Token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Hak Akses Utama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Guest / Publik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Bebas Akses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Tanpa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Navigasi Pintu Portal Utama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Petugas Kantin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Merchant API (LoginRequest)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sessionStorage (alizzah_kantin_session)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Terminal FacePay, Inquiry Saldo, Payment, Log Kantin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Database Lokal (admin_user)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PHP Session (MAF_ADMIN)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Management Siswa, Presensi Wajah, Rekam Referensi,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Orang Tua Siswa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NIS Siswa (ortu-siswa.php)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sessionStorage (ortu_siswa_session)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  <a:latin typeface="Calibri"/>
                        </a:defRPr>
                      </a:pPr>
                      <a:r>
                        <a:t>Perekaman Foto Wajah Siswa Mandiri &amp; Upload Galeri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Modul FacePay Kantin (Cashless Payment)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1. Deteksi Wajah</a:t>
            </a:r>
          </a:p>
          <a:p>
            <a:pPr>
              <a:spcBef>
                <a:spcPts val="12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Kamera memindai wajah siswa saat berada di kasir kantin.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2. Inquiry Saldo</a:t>
            </a:r>
          </a:p>
          <a:p>
            <a:pPr>
              <a:spcBef>
                <a:spcPts val="12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Sistem memanggil Merchant API untuk mengecek ketersediaan saldo siswa.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3. Payment Belanja</a:t>
            </a:r>
          </a:p>
          <a:p>
            <a:pPr>
              <a:spcBef>
                <a:spcPts val="12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Kasir memasukkan nominal belanja dan menekan tombol pembayaran.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4. Log Transaksi</a:t>
            </a:r>
          </a:p>
          <a:p>
            <a:pPr>
              <a:spcBef>
                <a:spcPts val="12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Transaksi dicatat real-time pada Log Pembelian Kantin &amp;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Modul Portal Orang Tua Mandiri ( /ortu/ 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2000" b="1">
                <a:solidFill>
                  <a:srgbClr val="1F6B4A"/>
                </a:solidFill>
                <a:latin typeface="Georgia"/>
              </a:defRPr>
            </a:pPr>
            <a:r>
              <a:t>Fitur Unggulan Portal Ortu</a:t>
            </a:r>
          </a:p>
          <a:p>
            <a:pPr>
              <a:spcBef>
                <a:spcPts val="10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📱 Desain Mobile-First &amp; Glassmorphism khas Alizzah</a:t>
            </a:r>
          </a:p>
          <a:p>
            <a:pPr>
              <a:spcBef>
                <a:spcPts val="10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🎯 Oval Face Guide: Garis bantu visual posisi wajah di webcam</a:t>
            </a:r>
          </a:p>
          <a:p>
            <a:pPr>
              <a:spcBef>
                <a:spcPts val="10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🔄 Kontrol Kamera Lengkap (Mulai, Stop, Switch Kamera)</a:t>
            </a:r>
          </a:p>
          <a:p>
            <a:pPr>
              <a:spcBef>
                <a:spcPts val="10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📁 File Upload Dropzone: Opsi pengunggahan foto dari Galeri HP/Laptop</a:t>
            </a:r>
          </a:p>
          <a:p>
            <a:pPr>
              <a:spcBef>
                <a:spcPts val="10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🛡️ Validasi Otomatis Ukuran Foto (Maks. ~750 KB)</a:t>
            </a:r>
          </a:p>
          <a:p>
            <a:pPr>
              <a:spcBef>
                <a:spcPts val="10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✅ Visual Kartu Siswa &amp; Chip Indikator Status Foto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645920"/>
            <a:ext cx="4510735" cy="4572000"/>
          </a:xfrm>
          <a:prstGeom prst="roundRect">
            <a:avLst/>
          </a:prstGeom>
          <a:solidFill>
            <a:srgbClr val="E6F2EC"/>
          </a:solidFill>
          <a:ln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2000" b="1">
                <a:solidFill>
                  <a:srgbClr val="1F6B4A"/>
                </a:solidFill>
                <a:latin typeface="Georgia"/>
              </a:defRPr>
            </a:pPr>
            <a:r>
              <a:t>Penyelarasan Desain</a:t>
            </a:r>
          </a:p>
          <a:p>
            <a:pPr>
              <a:spcBef>
                <a:spcPts val="1200"/>
              </a:spcBef>
              <a:defRPr sz="1400">
                <a:solidFill>
                  <a:srgbClr val="14201A"/>
                </a:solidFill>
                <a:latin typeface="Calibri"/>
              </a:defRPr>
            </a:pPr>
            <a:r>
              <a:t>Portal Ortu kini sepenuhnya mengadopsi Sistem Desain resmi Alizzah:</a:t>
            </a:r>
            <a:br/>
            <a:br/>
            <a:r>
              <a:t>• Font Display Fraunces &amp; Body DM Sans</a:t>
            </a:r>
            <a:br/>
            <a:r>
              <a:t>• Latar belakang Krem Warm (#f7f5f1)</a:t>
            </a:r>
            <a:br/>
            <a:r>
              <a:t>• Aksara Logo Mark FA khas Admin</a:t>
            </a:r>
            <a:br/>
            <a:r>
              <a:t>• Tombol Solid Hijau Alizzah (#1f6b4a)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Spesifikasi API &amp; Integrasi Proxy PHP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Endpoint API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Metode / Proxy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Fungsi Operasional</a:t>
                      </a:r>
                    </a:p>
                  </a:txBody>
                  <a:tcPr>
                    <a:solidFill>
                      <a:srgbClr val="1F6B4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LoginRequest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POST (Merchant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Autentikasi login petugas kantin &amp; pembuatan token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InquirySALDO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POST (Merchant API)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Memeriksa sisa saldo aktif siswa berdasarkan ID/NIM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PaymentBELANJAKantin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POST (Merchant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Eksekusi pemotongan saldo untuk pembayaran belanja kantin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ortu-siswa.php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POST (PHP Local Proxy)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4201A"/>
                          </a:solidFill>
                        </a:defRPr>
                      </a:pPr>
                      <a:r>
                        <a:t>Verifikasi NIS siswa untuk login &amp; pembaruan data sesi ortu</a:t>
                      </a:r>
                    </a:p>
                  </a:txBody>
                  <a:tcPr>
                    <a:solidFill>
                      <a:srgbClr val="E6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Sistem Desain &amp; Visual Tokens Alizzah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20240" cy="2011680"/>
          </a:xfrm>
          <a:prstGeom prst="roundRect">
            <a:avLst/>
          </a:prstGeom>
          <a:solidFill>
            <a:srgbClr val="1F6B4A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Brand Hijau</a:t>
            </a:r>
            <a:br/>
            <a:r>
              <a:t>#1f6b4a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828800"/>
            <a:ext cx="1920240" cy="2011680"/>
          </a:xfrm>
          <a:prstGeom prst="roundRect">
            <a:avLst/>
          </a:prstGeom>
          <a:solidFill>
            <a:srgbClr val="134833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Brand Deep</a:t>
            </a:r>
            <a:br/>
            <a:r>
              <a:t>#134833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828800"/>
            <a:ext cx="1920240" cy="2011680"/>
          </a:xfrm>
          <a:prstGeom prst="roundRect">
            <a:avLst/>
          </a:prstGeom>
          <a:solidFill>
            <a:srgbClr val="E6F2EC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Brand Soft</a:t>
            </a:r>
            <a:br/>
            <a:r>
              <a:t>#e6f2ec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1920240" cy="2011680"/>
          </a:xfrm>
          <a:prstGeom prst="roundRect">
            <a:avLst/>
          </a:prstGeom>
          <a:solidFill>
            <a:srgbClr val="C45C26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Terracotta</a:t>
            </a:r>
            <a:br/>
            <a:r>
              <a:t>#c45c26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1828800"/>
            <a:ext cx="1920240" cy="2011680"/>
          </a:xfrm>
          <a:prstGeom prst="roundRect">
            <a:avLst/>
          </a:prstGeom>
          <a:solidFill>
            <a:srgbClr val="F7F5F1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01A"/>
                </a:solidFill>
              </a:defRPr>
            </a:pPr>
            <a:r>
              <a:t>Krem Paper</a:t>
            </a:r>
            <a:br/>
            <a:r>
              <a:t>#f7f5f1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365760"/>
          <a:lstStyle/>
          <a:p>
            <a:pPr algn="ctr">
              <a:defRPr sz="1800" b="1">
                <a:solidFill>
                  <a:srgbClr val="1F6B4A"/>
                </a:solidFill>
                <a:latin typeface="Georgia"/>
              </a:defRPr>
            </a:pPr>
            <a:r>
              <a:t>Tipografi Standar Resmi</a:t>
            </a:r>
          </a:p>
          <a:p>
            <a:pPr>
              <a:spcBef>
                <a:spcPts val="800"/>
              </a:spcBef>
              <a:defRPr sz="1400">
                <a:solidFill>
                  <a:srgbClr val="14201A"/>
                </a:solidFill>
              </a:defRPr>
            </a:pPr>
            <a:r>
              <a:t>• Font Display (Judul): Fraunces / Georgia (Serif Elegan &amp; Warm)</a:t>
            </a:r>
            <a:br/>
            <a:r>
              <a:t>• Font Body (Teks &amp; Form): DM Sans / Sans-Serif (Modern &amp; Terbaca Jelas)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6B4A"/>
                </a:solidFill>
                <a:latin typeface="Calibri"/>
              </a:defRPr>
            </a:pPr>
            <a:r>
              <a:t>FACEPAY ALIZZAH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01A"/>
                </a:solidFill>
                <a:latin typeface="Georgia"/>
              </a:defRPr>
            </a:pPr>
            <a:r>
              <a:t>Panduan Deployment &amp; Kebutuhan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1F6B4A"/>
                </a:solidFill>
                <a:latin typeface="Georgia"/>
              </a:defRPr>
            </a:pPr>
            <a:r>
              <a:t>🔒 Protokol SSL/HTTPS Wajib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Akses kamera webcam di browser smartphone/laptop memerlukan koneksi aman SSL (HTTPS).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6792" y="182880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1F6B4A"/>
                </a:solidFill>
                <a:latin typeface="Georgia"/>
              </a:defRPr>
            </a:pPr>
            <a:r>
              <a:t>⚡ Environment Web Server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Mendukung Apache 2.4+ / Nginx 1.18+ dengan PHP 7.4+ (ekstensi curl, json, pdo_mysql).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1F6B4A"/>
                </a:solidFill>
                <a:latin typeface="Georgia"/>
              </a:defRPr>
            </a:pPr>
            <a:r>
              <a:t>📁 Hak Akses File (Permissions)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Direktori penyimpanan foto referensi memerlukan izin akses Read/Write (755/777).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792" y="4023360"/>
            <a:ext cx="5120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9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1F6B4A"/>
                </a:solidFill>
                <a:latin typeface="Georgia"/>
              </a:defRPr>
            </a:pPr>
            <a:r>
              <a:t>🗄️ Database &amp; Config</a:t>
            </a:r>
          </a:p>
          <a:p>
            <a:pPr>
              <a:spcBef>
                <a:spcPts val="800"/>
              </a:spcBef>
              <a:defRPr sz="1300">
                <a:solidFill>
                  <a:srgbClr val="5C6B63"/>
                </a:solidFill>
                <a:latin typeface="Calibri"/>
              </a:defRPr>
            </a:pPr>
            <a:r>
              <a:t>Konfigurasi kredensial DB &amp; Merchant API dikelola secara terpusat pada admin/api/config.php.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9553C"/>
          </a:solidFill>
          <a:ln>
            <a:solidFill>
              <a:srgbClr val="2D7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Terima Kasih</a:t>
            </a:r>
          </a:p>
          <a:p>
            <a:pPr algn="ctr">
              <a:spcBef>
                <a:spcPts val="1400"/>
              </a:spcBef>
              <a:defRPr sz="2000">
                <a:solidFill>
                  <a:srgbClr val="E6F2EC"/>
                </a:solidFill>
              </a:defRPr>
            </a:pPr>
            <a:r>
              <a:t>Facepay Alizzah — Inovasi Layanan Digital Terpadu</a:t>
            </a:r>
          </a:p>
          <a:p>
            <a:pPr algn="ctr">
              <a:spcBef>
                <a:spcPts val="3000"/>
              </a:spcBef>
              <a:defRPr sz="1400">
                <a:solidFill>
                  <a:srgbClr val="A0D2B9"/>
                </a:solidFill>
              </a:defRPr>
            </a:pPr>
            <a:r>
              <a:t>Tim ICT Alizzah  •  https://alizzah.sch.id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